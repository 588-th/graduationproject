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00" r:id="rId4"/>
    <p:sldId id="281" r:id="rId5"/>
    <p:sldId id="279" r:id="rId6"/>
    <p:sldId id="288" r:id="rId7"/>
    <p:sldId id="294" r:id="rId8"/>
    <p:sldId id="299" r:id="rId9"/>
    <p:sldId id="293" r:id="rId10"/>
    <p:sldId id="291" r:id="rId11"/>
    <p:sldId id="296" r:id="rId12"/>
    <p:sldId id="292" r:id="rId13"/>
    <p:sldId id="30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A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36075-1697-4824-BD18-AEFEAEFE2BC4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31CC6-6B2F-414B-9987-D03A8D2D85A9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tags" Target="../tags/tag3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tags" Target="../tags/tag4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54505" y="2078990"/>
            <a:ext cx="8718550" cy="2387600"/>
          </a:xfrm>
        </p:spPr>
        <p:txBody>
          <a:bodyPr anchor="ctr">
            <a:normAutofit/>
          </a:bodyPr>
          <a:lstStyle/>
          <a:p>
            <a:r>
              <a:rPr lang="ru-RU" altLang="en-US" sz="3000" dirty="0">
                <a:solidFill>
                  <a:srgbClr val="EE2A24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Разработка программного обеспечения «С</a:t>
            </a:r>
            <a:r>
              <a:rPr lang="ru-RU" sz="3000" dirty="0">
                <a:solidFill>
                  <a:srgbClr val="EE2A24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оздание и обучение моделей распознавания речи»</a:t>
            </a:r>
            <a:endParaRPr lang="ru-RU" sz="3000" dirty="0">
              <a:solidFill>
                <a:srgbClr val="EE2A24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931091" y="4600287"/>
            <a:ext cx="7230428" cy="1786961"/>
          </a:xfrm>
        </p:spPr>
        <p:txBody>
          <a:bodyPr anchor="b">
            <a:normAutofit fontScale="37500" lnSpcReduction="20000"/>
          </a:bodyPr>
          <a:lstStyle/>
          <a:p>
            <a:pPr algn="r"/>
            <a:r>
              <a:rPr lang="ru-RU" sz="5000" dirty="0">
                <a:solidFill>
                  <a:schemeClr val="tx2"/>
                </a:solidFill>
              </a:rPr>
              <a:t>Выполнил: студент </a:t>
            </a:r>
            <a:r>
              <a:rPr lang="ru-RU" sz="5000" dirty="0" err="1">
                <a:solidFill>
                  <a:schemeClr val="tx2"/>
                </a:solidFill>
              </a:rPr>
              <a:t>гр.ИСП</a:t>
            </a:r>
            <a:r>
              <a:rPr lang="ru-RU" sz="5000" dirty="0">
                <a:solidFill>
                  <a:schemeClr val="tx2"/>
                </a:solidFill>
              </a:rPr>
              <a:t>-20-4</a:t>
            </a:r>
            <a:endParaRPr lang="ru-RU" sz="5000" dirty="0">
              <a:solidFill>
                <a:schemeClr val="tx2"/>
              </a:solidFill>
            </a:endParaRPr>
          </a:p>
          <a:p>
            <a:pPr algn="r"/>
            <a:r>
              <a:rPr lang="ru-RU" sz="5000" dirty="0">
                <a:solidFill>
                  <a:schemeClr val="tx2"/>
                </a:solidFill>
              </a:rPr>
              <a:t> Галанов Александр Николаевич</a:t>
            </a:r>
            <a:endParaRPr lang="ru-RU" sz="5000" dirty="0">
              <a:solidFill>
                <a:schemeClr val="tx2"/>
              </a:solidFill>
            </a:endParaRPr>
          </a:p>
          <a:p>
            <a:pPr algn="r"/>
            <a:r>
              <a:rPr lang="ru-RU" sz="5000" dirty="0">
                <a:solidFill>
                  <a:schemeClr val="tx2"/>
                </a:solidFill>
              </a:rPr>
              <a:t>Руководитель дипломного проекта: </a:t>
            </a:r>
            <a:endParaRPr lang="ru-RU" sz="5000" dirty="0">
              <a:solidFill>
                <a:schemeClr val="tx2"/>
              </a:solidFill>
            </a:endParaRPr>
          </a:p>
          <a:p>
            <a:pPr algn="r"/>
            <a:r>
              <a:rPr lang="ru-RU" sz="5000" dirty="0">
                <a:solidFill>
                  <a:schemeClr val="tx2"/>
                </a:solidFill>
              </a:rPr>
              <a:t>Олег Васильевич Ситчихин</a:t>
            </a:r>
            <a:endParaRPr lang="ru-RU" sz="5000" dirty="0">
              <a:solidFill>
                <a:schemeClr val="tx2"/>
              </a:solidFill>
            </a:endParaRPr>
          </a:p>
          <a:p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одзаголовок 2"/>
          <p:cNvSpPr txBox="1"/>
          <p:nvPr/>
        </p:nvSpPr>
        <p:spPr>
          <a:xfrm>
            <a:off x="1754778" y="5695404"/>
            <a:ext cx="2804160" cy="7668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  <a:sym typeface="+mn-ea"/>
              </a:rPr>
              <a:t>Цель и требования к проекту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Цель</a:t>
            </a:r>
            <a:r>
              <a:rPr lang="en-US" altLang="en-US"/>
              <a:t>:</a:t>
            </a:r>
            <a:r>
              <a:rPr lang="ru-RU" altLang="en-US"/>
              <a:t> разработать программного обеспечение «Создание  и обучение моделей распознавания речи».</a:t>
            </a:r>
            <a:endParaRPr lang="ru-RU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r>
              <a:rPr lang="ru-RU" altLang="en-US"/>
              <a:t>Требования к проекту</a:t>
            </a:r>
            <a:r>
              <a:rPr lang="en-US" altLang="en-US"/>
              <a:t>:</a:t>
            </a:r>
            <a:endParaRPr lang="en-US" altLang="en-US"/>
          </a:p>
          <a:p>
            <a:pPr>
              <a:buFont typeface="Arial" panose="020B0604020202020204" pitchFamily="34" charset="0"/>
              <a:buChar char="–"/>
            </a:pPr>
            <a:r>
              <a:rPr lang="ru-RU" altLang="en-US"/>
              <a:t>создавать и обучать модели распознавания речи</a:t>
            </a:r>
            <a:r>
              <a:rPr lang="en-US" altLang="ru-RU"/>
              <a:t>;</a:t>
            </a:r>
            <a:endParaRPr lang="ru-RU" altLang="en-US"/>
          </a:p>
          <a:p>
            <a:pPr>
              <a:buFont typeface="Arial" panose="020B0604020202020204" pitchFamily="34" charset="0"/>
              <a:buChar char="–"/>
            </a:pPr>
            <a:r>
              <a:rPr lang="ru-RU" altLang="en-US"/>
              <a:t>тестировать модели распознавания речи</a:t>
            </a:r>
            <a:r>
              <a:rPr lang="en-US" altLang="ru-RU"/>
              <a:t>;</a:t>
            </a:r>
            <a:endParaRPr lang="ru-RU" altLang="en-US"/>
          </a:p>
          <a:p>
            <a:pPr>
              <a:buFont typeface="Arial" panose="020B0604020202020204" pitchFamily="34" charset="0"/>
              <a:buChar char="–"/>
            </a:pPr>
            <a:r>
              <a:rPr lang="ru-RU" altLang="en-US"/>
              <a:t>транскрибировать аудио файлы.</a:t>
            </a:r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  <a:sym typeface="+mn-ea"/>
              </a:rPr>
              <a:t>Моделирование предметной области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94" name="Изображение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20315" y="1032510"/>
            <a:ext cx="7064375" cy="5825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  <a:sym typeface="+mn-ea"/>
              </a:rPr>
              <a:t>Моделирование предметной области</a:t>
            </a:r>
            <a:endParaRPr lang="en-US" altLang="ru-RU" b="1" dirty="0">
              <a:solidFill>
                <a:schemeClr val="bg1"/>
              </a:solidFill>
            </a:endParaRPr>
          </a:p>
        </p:txBody>
      </p:sp>
      <p:pic>
        <p:nvPicPr>
          <p:cNvPr id="95" name="Изображение 1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2176780"/>
            <a:ext cx="12193270" cy="364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  <a:sym typeface="+mn-ea"/>
              </a:rPr>
              <a:t>Моделирование предметной области</a:t>
            </a:r>
            <a:endParaRPr lang="ru-RU" altLang="ru-RU" b="1" dirty="0">
              <a:solidFill>
                <a:schemeClr val="bg1"/>
              </a:solidFill>
            </a:endParaRPr>
          </a:p>
        </p:txBody>
      </p:sp>
      <p:pic>
        <p:nvPicPr>
          <p:cNvPr id="116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525" y="1069340"/>
            <a:ext cx="8385810" cy="5680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Программные средства реализации</a:t>
            </a:r>
            <a:endParaRPr lang="en-US" altLang="ru-RU" b="1" dirty="0">
              <a:solidFill>
                <a:schemeClr val="bg1"/>
              </a:solidFill>
            </a:endParaRPr>
          </a:p>
        </p:txBody>
      </p:sp>
      <p:pic>
        <p:nvPicPr>
          <p:cNvPr id="5" name="Изображение 4" descr="visualstudio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30" y="663575"/>
            <a:ext cx="4184650" cy="3269615"/>
          </a:xfrm>
          <a:prstGeom prst="rect">
            <a:avLst/>
          </a:prstGeom>
        </p:spPr>
      </p:pic>
      <p:pic>
        <p:nvPicPr>
          <p:cNvPr id="6" name="Изображение 5" descr="C-Sharp-Tutorials-1536x8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" y="4074795"/>
            <a:ext cx="4316730" cy="2428240"/>
          </a:xfrm>
          <a:prstGeom prst="rect">
            <a:avLst/>
          </a:prstGeom>
        </p:spPr>
      </p:pic>
      <p:pic>
        <p:nvPicPr>
          <p:cNvPr id="7" name="Изображение 6" descr="Audacity_logo_logoty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345" y="1131570"/>
            <a:ext cx="2642870" cy="2506345"/>
          </a:xfrm>
          <a:prstGeom prst="rect">
            <a:avLst/>
          </a:prstGeom>
        </p:spPr>
      </p:pic>
      <p:pic>
        <p:nvPicPr>
          <p:cNvPr id="8" name="Изображение 7" descr="Tensorflow_logo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420" y="3933190"/>
            <a:ext cx="2204085" cy="2357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14300"/>
            <a:ext cx="10515600" cy="821690"/>
          </a:xfrm>
        </p:spPr>
        <p:txBody>
          <a:bodyPr>
            <a:normAutofit fontScale="90000"/>
          </a:bodyPr>
          <a:lstStyle/>
          <a:p>
            <a:pPr algn="ctr"/>
            <a:r>
              <a:rPr lang="ru-RU" altLang="en-US" b="1" dirty="0">
                <a:solidFill>
                  <a:schemeClr val="bg1"/>
                </a:solidFill>
                <a:sym typeface="+mn-ea"/>
              </a:rPr>
              <a:t>Структура разрабатываемого программного обеспечения</a:t>
            </a:r>
            <a:endParaRPr lang="en-US" altLang="ru-RU" b="1" dirty="0">
              <a:solidFill>
                <a:schemeClr val="bg1"/>
              </a:solidFill>
            </a:endParaRPr>
          </a:p>
        </p:txBody>
      </p:sp>
      <p:pic>
        <p:nvPicPr>
          <p:cNvPr id="74" name="Изображение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2282825"/>
            <a:ext cx="12192000" cy="3208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altLang="en-US" b="1" dirty="0">
                <a:solidFill>
                  <a:schemeClr val="bg1"/>
                </a:solidFill>
              </a:rPr>
              <a:t>Тестирование разрботанного продукта</a:t>
            </a:r>
            <a:endParaRPr lang="ru-RU" altLang="en-US" b="1" dirty="0">
              <a:solidFill>
                <a:schemeClr val="bg1"/>
              </a:solidFill>
            </a:endParaRPr>
          </a:p>
        </p:txBody>
      </p:sp>
      <p:pic>
        <p:nvPicPr>
          <p:cNvPr id="80" name="Изображение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" y="4001770"/>
            <a:ext cx="5806440" cy="2068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Изображение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" y="1419225"/>
            <a:ext cx="5823585" cy="1824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Изображение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320" y="2479040"/>
            <a:ext cx="5513070" cy="2158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altLang="en-US" b="1" dirty="0">
                <a:solidFill>
                  <a:schemeClr val="bg1"/>
                </a:solidFill>
                <a:sym typeface="+mn-ea"/>
              </a:rPr>
              <a:t>Тестирование разрботанного продукта</a:t>
            </a:r>
            <a:endParaRPr lang="ru-RU" altLang="en-US" b="1" dirty="0">
              <a:solidFill>
                <a:schemeClr val="bg1"/>
              </a:solidFill>
            </a:endParaRPr>
          </a:p>
        </p:txBody>
      </p:sp>
      <p:pic>
        <p:nvPicPr>
          <p:cNvPr id="79" name="Изображение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" y="1449705"/>
            <a:ext cx="7233920" cy="4801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Изображение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440" y="1423035"/>
            <a:ext cx="3362325" cy="4827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altLang="en-US" b="1" dirty="0">
                <a:solidFill>
                  <a:schemeClr val="bg1"/>
                </a:solidFill>
              </a:rPr>
              <a:t>Экономическое обоснование разработки</a:t>
            </a:r>
            <a:endParaRPr lang="ru-RU" altLang="en-US" b="1" dirty="0">
              <a:solidFill>
                <a:schemeClr val="bg1"/>
              </a:solidFill>
            </a:endParaRPr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>
                <a:sym typeface="+mn-ea"/>
              </a:rPr>
              <a:t>Себестоимость продукта составила 84660,43 руб.</a:t>
            </a:r>
            <a:endParaRPr lang="ru-RU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r>
              <a:rPr lang="ru-RU" altLang="en-US">
                <a:sym typeface="+mn-ea"/>
              </a:rPr>
              <a:t>87693,15 руб </a:t>
            </a:r>
            <a:r>
              <a:rPr lang="en-US" altLang="en-US">
                <a:sym typeface="+mn-ea"/>
              </a:rPr>
              <a:t>/ 0,96 руб. за минуту = 88 188 </a:t>
            </a:r>
            <a:r>
              <a:rPr lang="ru-RU" altLang="en-US">
                <a:sym typeface="+mn-ea"/>
              </a:rPr>
              <a:t>мин.</a:t>
            </a:r>
            <a:endParaRPr lang="en-US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r>
              <a:rPr lang="ru-RU" altLang="en-US">
                <a:sym typeface="+mn-ea"/>
              </a:rPr>
              <a:t>Для окупаемости затрат на разработку необходимо обработать приблизительно 88188 минут аудио, что эквивалентно 1470 часам или 61 суткам.</a:t>
            </a:r>
            <a:endParaRPr lang="ru-RU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altLang="en-US" b="1" dirty="0">
                <a:solidFill>
                  <a:schemeClr val="bg1"/>
                </a:solidFill>
              </a:rPr>
              <a:t>Внедрение</a:t>
            </a:r>
            <a:endParaRPr lang="ru-RU" altLang="en-US" b="1" dirty="0">
              <a:solidFill>
                <a:schemeClr val="bg1"/>
              </a:solidFill>
            </a:endParaRPr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ru-RU"/>
              <a:t>Продкут распространяется в виде портативной версии.</a:t>
            </a:r>
            <a:endParaRPr lang="ru-RU"/>
          </a:p>
          <a:p>
            <a:pPr marL="0" indent="0">
              <a:buNone/>
            </a:pPr>
            <a:r>
              <a:rPr lang="ru-RU"/>
              <a:t>В настройке безопасности система и продукт не нуждаются.</a:t>
            </a:r>
            <a:endParaRPr lang="ru-RU"/>
          </a:p>
        </p:txBody>
      </p:sp>
      <p:pic>
        <p:nvPicPr>
          <p:cNvPr id="6" name="Изображение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10330" y="3928745"/>
            <a:ext cx="4371975" cy="1628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altLang="en-US" b="1" dirty="0">
                <a:solidFill>
                  <a:schemeClr val="bg1"/>
                </a:solidFill>
              </a:rPr>
              <a:t>Выводы</a:t>
            </a:r>
            <a:endParaRPr lang="ru-RU" altLang="en-US" b="1" dirty="0">
              <a:solidFill>
                <a:schemeClr val="bg1"/>
              </a:solidFill>
            </a:endParaRPr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ru-RU" altLang="ru-RU"/>
              <a:t>Продукт экономически выгодный и соответствует техническому заданию.</a:t>
            </a:r>
            <a:endParaRPr lang="ru-RU" altLang="ru-RU"/>
          </a:p>
          <a:p>
            <a:pPr marL="0" indent="0">
              <a:buNone/>
            </a:pPr>
            <a:r>
              <a:rPr lang="ru-RU" altLang="ru-RU"/>
              <a:t>Цель и задачи дипломного проекта выполнены.</a:t>
            </a:r>
            <a:endParaRPr lang="ru-RU" altLang="ru-RU"/>
          </a:p>
          <a:p>
            <a:pPr marL="0" indent="0">
              <a:buNone/>
            </a:pPr>
            <a:endParaRPr lang="ru-RU" altLang="ru-RU"/>
          </a:p>
          <a:p>
            <a:pPr marL="0" indent="0">
              <a:buNone/>
            </a:pPr>
            <a:r>
              <a:rPr lang="ru-RU" altLang="ru-RU"/>
              <a:t>Дальнайшая разработка</a:t>
            </a:r>
            <a:r>
              <a:rPr lang="en-US" altLang="ru-RU"/>
              <a:t>:</a:t>
            </a:r>
            <a:endParaRPr lang="ru-RU" altLang="ru-RU"/>
          </a:p>
          <a:p>
            <a:pPr>
              <a:buFont typeface="Arial" panose="020B0604020202020204" pitchFamily="34" charset="0"/>
              <a:buChar char="–"/>
            </a:pPr>
            <a:r>
              <a:rPr lang="ru-RU" altLang="en-US">
                <a:sym typeface="+mn-ea"/>
              </a:rPr>
              <a:t>Расширение базы аудио данных</a:t>
            </a:r>
            <a:endParaRPr lang="ru-RU" altLang="en-US"/>
          </a:p>
          <a:p>
            <a:pPr>
              <a:buFont typeface="Arial" panose="020B0604020202020204" pitchFamily="34" charset="0"/>
              <a:buChar char="–"/>
            </a:pPr>
            <a:r>
              <a:rPr lang="ru-RU" altLang="en-US">
                <a:sym typeface="+mn-ea"/>
              </a:rPr>
              <a:t>Внедрение новых методов извлечения звуковых характеристик и обучения моделей</a:t>
            </a:r>
            <a:endParaRPr lang="ru-RU" altLang="en-US">
              <a:sym typeface="+mn-ea"/>
            </a:endParaRPr>
          </a:p>
          <a:p>
            <a:pPr>
              <a:buFont typeface="Arial" panose="020B0604020202020204" pitchFamily="34" charset="0"/>
              <a:buChar char="–"/>
            </a:pPr>
            <a:r>
              <a:rPr lang="ru-RU" altLang="en-US">
                <a:sym typeface="+mn-ea"/>
              </a:rPr>
              <a:t>Создание многоуровневого словаря для точного распознавания слов, различающихся в тексте и речи, например, "что" и "што</a:t>
            </a:r>
            <a:endParaRPr lang="ru-RU" altLang="ru-RU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1444</Words>
  <Application>WPS Presentation</Application>
  <PresentationFormat>Широкоэкранный</PresentationFormat>
  <Paragraphs>54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 Black</vt:lpstr>
      <vt:lpstr>Calibri</vt:lpstr>
      <vt:lpstr>Microsoft YaHei</vt:lpstr>
      <vt:lpstr>Arial Unicode MS</vt:lpstr>
      <vt:lpstr>Calibri Light</vt:lpstr>
      <vt:lpstr>Тема Office</vt:lpstr>
      <vt:lpstr>Разработка информационной системы для создание и обучение моделей распознавания речи</vt:lpstr>
      <vt:lpstr>Моделирование предметной области</vt:lpstr>
      <vt:lpstr>Моделирование предметной области</vt:lpstr>
      <vt:lpstr>Моделирование предметной области</vt:lpstr>
      <vt:lpstr>Моделирование предметной области</vt:lpstr>
      <vt:lpstr>Программные средства реализации</vt:lpstr>
      <vt:lpstr>Программные средства реализации</vt:lpstr>
      <vt:lpstr>Тестирование разрботанного продукта</vt:lpstr>
      <vt:lpstr>Тестирование разрботанного продукта</vt:lpstr>
      <vt:lpstr>Экономическое обоснование разработки</vt:lpstr>
      <vt:lpstr>Выводы</vt:lpstr>
      <vt:lpstr>Внедрение</vt:lpstr>
    </vt:vector>
  </TitlesOfParts>
  <Company>ODK-PM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СЛУЖБА ДИРЕКТОРА  ПО ЭКОНОМИКЕ И ФИНАНСАМ</dc:title>
  <dc:creator>Вдовин Сергей Петрович</dc:creator>
  <cp:lastModifiedBy>WPS_1710775328</cp:lastModifiedBy>
  <cp:revision>21</cp:revision>
  <dcterms:created xsi:type="dcterms:W3CDTF">2023-09-13T03:48:00Z</dcterms:created>
  <dcterms:modified xsi:type="dcterms:W3CDTF">2024-06-10T14:35:52Z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A83C118EC63E41F28E1C2528E6E2A2C3_12</vt:lpwstr>
  </property>
  <property fmtid="{D5CDD505-2E9C-101B-9397-08002B2CF9AE}" pid="3" name="KSOProductBuildVer">
    <vt:lpwstr>1049-12.2.0.17119</vt:lpwstr>
  </property>
</Properties>
</file>